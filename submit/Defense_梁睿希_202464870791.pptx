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000" b="1" i="0">
                <a:solidFill>
                  <a:srgbClr val="1C2333"/>
                </a:solidFill>
                <a:latin typeface="Times New Roman"/>
              </a:rPr>
              <a:t>When Should an Electric Ride-Hailing Driver Charge?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 i="1">
                <a:solidFill>
                  <a:srgbClr val="475569"/>
                </a:solidFill>
                <a:latin typeface="Times New Roman"/>
              </a:rPr>
              <a:t>Joint intra-day optimisation of charging time and order acceptance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34640" y="2971800"/>
            <a:ext cx="6492240" cy="1828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900" b="0" i="0">
                <a:solidFill>
                  <a:srgbClr val="1C2333"/>
                </a:solidFill>
                <a:latin typeface="Times New Roman"/>
              </a:rPr>
              <a:t>Ruixi Liang (梁睿希)   ·   Student ID 202464870791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475569"/>
                </a:solidFill>
                <a:latin typeface="Times New Roman"/>
              </a:rPr>
              <a:t>Big Data Class 1   ·   School of Future Technology</a:t>
            </a:r>
          </a:p>
          <a:p>
            <a:pPr algn="ctr">
              <a:lnSpc>
                <a:spcPct val="115000"/>
              </a:lnSpc>
              <a:spcAft>
                <a:spcPts val="1400"/>
              </a:spcAft>
            </a:pPr>
            <a:r>
              <a:rPr sz="1500" b="0" i="0">
                <a:solidFill>
                  <a:srgbClr val="94A3B8"/>
                </a:solidFill>
                <a:latin typeface="Times New Roman"/>
              </a:rPr>
              <a:t>[Team member 2 — Name, Student ID, Major and Class]</a:t>
            </a:r>
          </a:p>
          <a:p>
            <a:pPr algn="ctr">
              <a:lnSpc>
                <a:spcPct val="115000"/>
              </a:lnSpc>
              <a:spcAft>
                <a:spcPts val="1600"/>
              </a:spcAft>
            </a:pPr>
            <a:r>
              <a:rPr sz="1500" b="0" i="0">
                <a:solidFill>
                  <a:srgbClr val="94A3B8"/>
                </a:solidFill>
                <a:latin typeface="Times New Roman"/>
              </a:rPr>
              <a:t>[Team member 3 — Name, Student ID, Major and Class]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475569"/>
                </a:solidFill>
                <a:latin typeface="Times New Roman"/>
              </a:rPr>
              <a:t>Course: Optimization Methods (084100551)   ·   Supervisor: Prof. Zhenhong 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C2410C"/>
                </a:solidFill>
                <a:latin typeface="Times New Roman"/>
              </a:rPr>
              <a:t>In one sentence:  we model a single electric ride-hailing driver's charging and order decisions as a Markov decision process and show that the cheapest electricity hour is almost never the right hour to charge.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Background: the driver is paid to drive, and billed for the plug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Electric ride-hailing drivers face a time-of-use electricity tariff and an order flow that both vary over the day — but they do not vary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700" b="0">
                <a:solidFill>
                  <a:srgbClr val="1C2333"/>
                </a:solidFill>
                <a:latin typeface="Times New Roman"/>
              </a:rPr>
              <a:t>A driver earns from serving orders; electricity is a pure cost with a time-of-use (TOU) tariff that is ~3.8× cheaper at night than at the 16:00–19:00 super-peak.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700" b="0">
                <a:solidFill>
                  <a:srgbClr val="1C2333"/>
                </a:solidFill>
                <a:latin typeface="Times New Roman"/>
              </a:rPr>
              <a:t>Charging takes a 15-minute slot, and the driver keeps earning while the car charges — but only if orders are still arriving.</a:t>
            </a:r>
          </a:p>
          <a:p>
            <a:pPr lvl="1"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94A3B8"/>
                </a:solidFill>
                <a:latin typeface="Times New Roman"/>
              </a:rPr>
              <a:t>–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Opportunity cost, not the tariff, decides the answer: a slot that saves $0.31/kWh but sits in a dead hour is a bad slot.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700" b="0">
                <a:solidFill>
                  <a:srgbClr val="1C2333"/>
                </a:solidFill>
                <a:latin typeface="Times New Roman"/>
              </a:rPr>
              <a:t>Naive rule (“charge in the cheapest hour”) ignores this entirely, and it is exactly what real drivers and naive dispatchers propose.</a:t>
            </a:r>
          </a:p>
        </p:txBody>
      </p:sp>
      <p:pic>
        <p:nvPicPr>
          <p:cNvPr id="8" name="Picture 7" descr="F1_day_in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71600"/>
            <a:ext cx="5655404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23560" y="5568696"/>
            <a:ext cx="565540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Times New Roman"/>
              </a:rPr>
              <a:t>One simulated day: demand (blue), tariff (grey), and the MDP charging policy (orange dots) on the state-of-charge curve.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Research question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A deliberately small, sharply-posed question — a single driver, one day, one battery.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17320"/>
            <a:ext cx="1106424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17320"/>
            <a:ext cx="64008" cy="9601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C2333"/>
                </a:solidFill>
                <a:latin typeface="Times New Roman"/>
              </a:rPr>
              <a:t>RQ.  When should an electric ride-hailing driver charge, and how much do we lose by charging in the cheapest hour instead of the optimal one?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800" b="1">
                <a:solidFill>
                  <a:srgbClr val="C2410C"/>
                </a:solidFill>
                <a:latin typeface="Times New Roman"/>
              </a:rPr>
              <a:t>Contributions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800" b="0">
                <a:solidFill>
                  <a:srgbClr val="1C2333"/>
                </a:solidFill>
                <a:latin typeface="Times New Roman"/>
              </a:rPr>
              <a:t>A joint MDP of order acceptance and charging for a single driver: 8,256 states, 96 slots, Poisson arrivals summed analytically.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800" b="0">
                <a:solidFill>
                  <a:srgbClr val="1C2333"/>
                </a:solidFill>
                <a:latin typeface="Times New Roman"/>
              </a:rPr>
              <a:t>A decomposition that shows exactly why the optimal policy departs from the tariff-following rule — the opportunity cost of an idle hour.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800" b="0">
                <a:solidFill>
                  <a:srgbClr val="1C2333"/>
                </a:solidFill>
                <a:latin typeface="Times New Roman"/>
              </a:rPr>
              <a:t>A closed-form extension to the multi-day cycle, giving the shadow price of stored energy (μ = $0.2414/kWh).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800" b="0">
                <a:solidFill>
                  <a:srgbClr val="1C2333"/>
                </a:solidFill>
                <a:latin typeface="Times New Roman"/>
              </a:rPr>
              <a:t>Full reproducibility: public data, published seeds, and every number in the paper regenerated by one script.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The optimization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Decision variables, one objective, three constraints — and the trade-off that makes it worth optimising.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Times New Roman"/>
              </a:rPr>
              <a:t>Decision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a(t) ∈ {0, 1}: charge or not in slot 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u(t) ≥ 0: number of orders accepted in slot 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s(t): state of charge at the start of slot 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π: the policy mapping (t, s) → (a, 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015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Times New Roman"/>
              </a:rPr>
              <a:t>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21608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SOC reserve floor: s(t) ≥ 15% at all times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Energy balance: s(t+1) = s(t) + η·a(t)·P·τ(s)·Δt − d(t)·u(t)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Capacity and slot limits: s(t) ≤ 100%, one slot per driver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17320"/>
            <a:ext cx="5212080" cy="1783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C2410C"/>
                </a:solidFill>
                <a:latin typeface="Times New Roman"/>
              </a:rPr>
              <a:t>Objective (max)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C2333"/>
                </a:solidFill>
                <a:latin typeface="Times New Roman"/>
              </a:rPr>
              <a:t>max  E [ Σₜ ( fare(t)·u(t)  −  price(t)·P·a(t)·Δt ) ]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1">
                <a:solidFill>
                  <a:srgbClr val="475569"/>
                </a:solidFill>
                <a:latin typeface="Times New Roman"/>
              </a:rPr>
              <a:t>earnings from accepted orders, minus the electricity bill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01568"/>
            <a:ext cx="5212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566160"/>
            <a:ext cx="47548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C2410C"/>
                </a:solidFill>
                <a:latin typeface="Times New Roman"/>
              </a:rPr>
              <a:t>The key trade-off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 i="0">
                <a:solidFill>
                  <a:srgbClr val="1C2333"/>
                </a:solidFill>
                <a:latin typeface="Times New Roman"/>
              </a:rPr>
              <a:t>Every slot spent charging is a slot not spent earning — but the value of that slot depends on the demand profile, not on the tariff.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C2410C"/>
                </a:solidFill>
                <a:latin typeface="Times New Roman"/>
              </a:rPr>
              <a:t>Cheap electricity + no orders = a loss.  Expensive electricity + peak orders = a smaller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Data and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One public dataset for demand; the tariff and vehicle parameters are stated assumptions, not measurements — and we say so explicitly.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981200"/>
                <a:gridCol w="2590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Source / note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Order arrival rate λ(t)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91 → 1,684 orders/h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NYC TLC trip records, 2024-01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Fare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$53.0/h mean, $93.5/h peak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derived from trip fare ÷ trip duration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Battery / charger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40 kWh, 60 kW, η = 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typical BEV ride-hailing vehicle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Reserve floor / knee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15% SOC / 80% SOC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CC–CV taper above the knee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TOU tariff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$0.11 – $0.42 / kWh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assumption; 4 tiers, 44 valley slots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Horizon / step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96 slots × 15 min = 24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a full operating day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4_t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4023360" cy="1681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31356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Times New Roman"/>
              </a:rPr>
              <a:t>CC–CV taper and the resulting cost per kWh stored.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9377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700" b="0">
                <a:solidFill>
                  <a:srgbClr val="1C2333"/>
                </a:solidFill>
                <a:latin typeface="Times New Roman"/>
              </a:rPr>
              <a:t>What is measured and what is assumed is the honesty line of this paper: the demand profile is measured, the tariff is an assumption, and the sensitivity analysis in Section 7 varies the assumption.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Method: three models, each answering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Each step is justified by what the previous one could not resolve.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010"/>
                <a:gridCol w="4104476"/>
                <a:gridCol w="4996753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Question it answers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Why this method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DP
expected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What is the best schedule if the future is known in advance?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A lower bound and a sanity check; deterministic and easy to verify by hand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MDP
Poisson arrivals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What should the driver do given only the current state?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Orders arrive stochastically; the Bellman recursion sums over the Poisson arrivals in closed form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Cyclic multi-day MDP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What is worth carrying into tomorrow?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The terminal value is the value of starting tomorrow, so it is a fixed point, solved by value iteration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840480"/>
            <a:ext cx="11064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1">
                <a:solidFill>
                  <a:srgbClr val="C2410C"/>
                </a:solidFill>
                <a:latin typeface="Times New Roman"/>
              </a:rPr>
              <a:t>Why not MILP?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A MILP is possible, but the stochastic arrival process makes the objective non-linear in the decision variables, and we would have to sample scenarios — trading a 20-minute solve for 50 approximation error.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The MDP is exact and its structure is interpretable: the policy can be read off slot by slot, which is what makes the key insight visible at all.</a:t>
            </a:r>
          </a:p>
          <a:p>
            <a:pPr lvl="1"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94A3B8"/>
                </a:solidFill>
                <a:latin typeface="Times New Roman"/>
              </a:rPr>
              <a:t>–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No code on the slides: the Bellman recursion is the whole method — V(t, s) = max over actions of [ immediate reward + expected continuation 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Baseline and comparison: what does optimisation buy?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Eight policies, 570 simulated feasible days, same demand realisation for every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7</a:t>
            </a:r>
          </a:p>
        </p:txBody>
      </p:sp>
      <p:pic>
        <p:nvPicPr>
          <p:cNvPr id="7" name="Picture 6" descr="F2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6660234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831336"/>
            <a:ext cx="666023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Times New Roman"/>
              </a:rPr>
              <a:t>Net daily earnings and feasibility rate of the eight policies.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1463040"/>
          <a:ext cx="39319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725"/>
                <a:gridCol w="1143831"/>
                <a:gridCol w="929362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Policy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Net ($/day)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2333"/>
                          </a:solidFill>
                          <a:latin typeface="Times New Roman"/>
                        </a:rPr>
                        <a:t>Feasible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MDP (ours)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$946.46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95%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DP (perfect forecast)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$934.15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Charge-to-full rule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$911.06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82%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Cheapest-hour rule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$788.21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Never charge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$600.09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D4C"/>
                          </a:solidFill>
                          <a:latin typeface="Times New Roman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43484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1">
                <a:solidFill>
                  <a:srgbClr val="C2410C"/>
                </a:solidFill>
                <a:latin typeface="Times New Roman"/>
              </a:rPr>
              <a:t>+$158.25/day (+20.1%) over the cheapest-hour rule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1">
                <a:solidFill>
                  <a:srgbClr val="047857"/>
                </a:solidFill>
                <a:latin typeface="Times New Roman"/>
              </a:rPr>
              <a:t>+$21.47/day (+2.3%) over a perfect-forecast deterministic DP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The perfect-forecast DP is not the benchmark to beat — it wins on earnings but fails feasibility 10% more often, because a static plan cannot adapt to a bad draw.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Feasibility is a first-class metric: a policy that strands the driver at 0% SOC is worthless even at a high average.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Sensitivity and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Does the conclusion survive when the assumptions move?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8</a:t>
            </a:r>
          </a:p>
        </p:txBody>
      </p:sp>
      <p:pic>
        <p:nvPicPr>
          <p:cNvPr id="7" name="Picture 6" descr="F3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7223760" cy="30025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4456397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Times New Roman"/>
              </a:rPr>
              <a:t>Gain of the optimal policy over the tariff-following rule, 7 one-factor sweeps.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463040"/>
            <a:ext cx="36576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7 sweeps: TOU spread, battery size, consumption, charger power, peak utilisation, fare level, start-of-day SOC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The gain is positive everywhere and grows as the energy budget tightens — optimisation matters more when energy is scarcer.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Ablations A1–A6 isolate every mechanism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Removing the opportunity-cost term from the reward is the only ablation that changes the policy qualitatively — and it turns the MDP back into the cheapest-hour rule.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Multi-day cycle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Cyclic MDP: μ = $0.2414/kWh shadow price, optimal start-of-day SOC 36.8%, steady-state charging at 04:45 and 12:00.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Key insight: the cheapest hour is the wrong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This is the one figure we would keep if we could only keep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11064240" cy="1234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64008" cy="12344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1C2333"/>
                </a:solidFill>
                <a:latin typeface="Times New Roman"/>
              </a:rPr>
              <a:t>The tariff spread is $0.31/kWh, but the demand spread over the same 24 hours is 18.5×. Opportunity cost dominates, so the optimal policy buys cheap energy in slots where it is cheap — and charges where the demand gap is small.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1488"/>
            <a:ext cx="63093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1">
                <a:solidFill>
                  <a:srgbClr val="C2410C"/>
                </a:solidFill>
                <a:latin typeface="Times New Roman"/>
              </a:rPr>
              <a:t>Measured on the optimal policy: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74.4% of feasible days contain at least one off-valley charge; 25.6% are valley-only.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100% of days charge in the deep night (00:00–05:00).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Modal slot: 04:45 (87.2% of days); then 20:30 (9.5%), 12:30 (9.0%).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1">
                <a:solidFill>
                  <a:srgbClr val="C2410C"/>
                </a:solidFill>
                <a:latin typeface="Times New Roman"/>
              </a:rPr>
              <a:t>Why 20:30 and 12:30 appear: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They are shoulder-tier (2× cheaper than peak) AND still inside the demand shoulder — the only slots that satisfy both conditions.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1">
                <a:solidFill>
                  <a:srgbClr val="C2410C"/>
                </a:solidFill>
                <a:latin typeface="Times New Roman"/>
              </a:rPr>
              <a:t>The general lesson: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0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400" b="0">
                <a:solidFill>
                  <a:srgbClr val="1C2333"/>
                </a:solidFill>
                <a:latin typeface="Times New Roman"/>
              </a:rPr>
              <a:t>Price a time slot by its opportunity cost, not by its sticker price.</a:t>
            </a:r>
          </a:p>
        </p:txBody>
      </p:sp>
      <p:pic>
        <p:nvPicPr>
          <p:cNvPr id="11" name="Picture 10" descr="F1_day_in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788920"/>
            <a:ext cx="3915280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8040" y="5705856"/>
            <a:ext cx="391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Times New Roman"/>
              </a:rPr>
              <a:t>The optimal day: charge at the shoulder boundary, not at the tariff minimum.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Direct answer to the research question, with the conditions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642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Finding 1.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Charging at the tariff minimum is the worst reasonable rule: $788.21/day and 11% feasibility, against $946.46/day and 95% for the optimal policy — a 20.1% gain.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Finding 2.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The optimal policy is strongly valley-anchored (74.4% of days charge off-valley, 100% charge after midnight) but not valley-exclusive: 25.6% of days stay entirely in the valley.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Finding 3.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The decision is driven by demand availability, not by price: 18.5× demand spread vs a 3.8× tariff spread, so the opportunity cost of an idle slot sets the optimum.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1">
                <a:solidFill>
                  <a:srgbClr val="C2410C"/>
                </a:solidFill>
                <a:latin typeface="Times New Roman"/>
              </a:rPr>
              <a:t>Finding 4.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1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500" b="0">
                <a:solidFill>
                  <a:srgbClr val="1C2333"/>
                </a:solidFill>
                <a:latin typeface="Times New Roman"/>
              </a:rPr>
              <a:t>Across a multi-day cycle, stored energy is worth μ = $0.2414/kWh and the optimal start-of-day SOC is 36.8%.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440680"/>
            <a:ext cx="11064240" cy="868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5040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 i="0">
                <a:solidFill>
                  <a:srgbClr val="C2410C"/>
                </a:solidFill>
                <a:latin typeface="Times New Roman"/>
              </a:rPr>
              <a:t>Limitations and next steps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333D4C"/>
                </a:solidFill>
                <a:latin typeface="Times New Roman"/>
              </a:rPr>
              <a:t>Single driver (the fleet-scale version needs a different treatment); the tariff is an assumption, not a measured price; revenue is modelled as a deterministic rate. Next: multi-agent congestion, and pricing the charging slot as a market.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Backup: verification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Because every number in the paper is regenerated by one 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64240" cy="3108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2333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C2333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Planner vs simulator consistency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2.25 standard errors (consistent rule); 2.31 SE (legacy rule)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Bellman residual (cyclic MDP)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9.29 × 10⁻¹⁰ after 34 sweeps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Formula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105 LaTeX formulas checked with KaTeX, 0 failures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Paper equations in Word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101 native OMML equation objects, 0 pasted images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Data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2,803,713 cleaned trips; 2,739,936 in-profile over 30 full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Reproduction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333D4C"/>
                          </a:solidFill>
                          <a:latin typeface="Times New Roman"/>
                        </a:rPr>
                        <a:t>code/ + data/ + published seeds; one command regenerates all figures and tables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80060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1">
                <a:solidFill>
                  <a:srgbClr val="C2410C"/>
                </a:solidFill>
                <a:latin typeface="Times New Roman"/>
              </a:rPr>
              <a:t>AI use statement (also in the paper):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200" b="1">
                <a:solidFill>
                  <a:srgbClr val="C2410C"/>
                </a:solidFill>
                <a:latin typeface="Times New Roman"/>
              </a:rPr>
              <a:t>▪  </a:t>
            </a:r>
            <a:r>
              <a:rPr sz="1600" b="0">
                <a:solidFill>
                  <a:srgbClr val="1C2333"/>
                </a:solidFill>
                <a:latin typeface="Times New Roman"/>
              </a:rPr>
              <a:t>Generative AI was used for literature understanding, model discussion, code debugging and English-language editing. All results, equations and code logic were verified by the team; the authors take full responsibility for the submitted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C2333"/>
                </a:solidFill>
                <a:latin typeface="Times New Roman"/>
              </a:rPr>
              <a:t>Backup: expected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475569"/>
                </a:solidFill>
                <a:latin typeface="Times New Roman"/>
              </a:rPr>
              <a:t>The guide lists eight questions we should be ready for; three of them have non-trivial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Times New Roman"/>
              </a:rPr>
              <a:t>When Should an Electric Ride-Hailing Driver Charge?   |   Optimization Methods (084100551)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63040"/>
          <a:ext cx="1106423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C2333"/>
                          </a:solidFill>
                          <a:latin typeface="Times New Roman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2333"/>
                          </a:solidFill>
                          <a:latin typeface="Times New Roman"/>
                        </a:rPr>
                        <a:t>Short answer</a:t>
                      </a:r>
                    </a:p>
                  </a:txBody>
                  <a:tcPr marL="73152" marR="73152" marT="27432" marB="27432" anchor="ctr">
                    <a:solidFill>
                      <a:srgbClr val="E2E8F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Why is this an optimization problem?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Two coupled decisions (when to charge, which orders to take) compete for the same scarce resource: the driver's time and battery.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Why is this constraint necessary?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Without the 15% reserve floor the DP would plan runs that strand the driver at 0% SOC; we proved the constraint is non-redundant and measured the resulting infeasibility.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Why this method?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The arrivals are stochastic and the state is (time, SOC) — exactly the structure of an MDP with a closed-form Poisson expectation.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Why does the optimal solution have this shape?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Because the value of a slot is the demand it forgoes; when demand is flat, the tariff decides, and when demand is steep, the tariff cannot outvote it.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What if a key parameter changes?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7 sensitivity sweeps: the gain over the tariff-following rule stays positive and grows as the energy budget tightens.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Would the conclusion hold under different assumptions?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D4C"/>
                          </a:solidFill>
                          <a:latin typeface="Times New Roman"/>
                        </a:rPr>
                        <a:t>Yes for the tariff shape and fare level (re-calibrated VOT still gives 16 of 96 slots below $15.20/h) — but a flat tariff would collapse the problem to a pure energy-balance question.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